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ero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63161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7432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Calibri"/>
              </a:defRPr>
            </a:pPr>
            <a:r>
              <a:t>"차가운 마이크에 진심의 온기를,</a:t>
            </a:r>
          </a:p>
          <a:p>
            <a:pPr>
              <a:defRPr sz="3600">
                <a:solidFill>
                  <a:srgbClr val="FFFFFF"/>
                </a:solidFill>
                <a:latin typeface="Calibri"/>
              </a:defRPr>
            </a:pPr>
            <a:r>
              <a:t>브랜드의 언어에 전략적 가치를 더합니다."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371600"/>
            <a:ext cx="914400" cy="45720"/>
          </a:xfrm>
          <a:prstGeom prst="rect">
            <a:avLst/>
          </a:prstGeom>
          <a:solidFill>
            <a:srgbClr val="C9A96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Calibri"/>
              </a:defRPr>
            </a:pPr>
            <a:r>
              <a:t>조직의 DNA를 분석하고,</a:t>
            </a:r>
          </a:p>
          <a:p>
            <a:pPr>
              <a:defRPr sz="4000">
                <a:solidFill>
                  <a:srgbClr val="FFFFFF"/>
                </a:solidFill>
                <a:latin typeface="Calibri"/>
              </a:defRPr>
            </a:pPr>
            <a:r>
              <a:t>비즈니스의 격을 설계합니다.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>
                <a:solidFill>
                  <a:srgbClr val="C9A962"/>
                </a:solidFill>
                <a:latin typeface="Calibri"/>
              </a:defRPr>
            </a:pPr>
            <a:r>
              <a:t>와이 커뮤니케이션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  <a:latin typeface="Calibri"/>
              </a:defRPr>
            </a:pPr>
            <a:r>
              <a:t>Professional Communication Solution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C9A962"/>
                </a:solidFill>
                <a:latin typeface="Times New Roman"/>
              </a:defRPr>
            </a:pPr>
            <a:r>
              <a:t>PARTNERS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Calibri"/>
              </a:defRPr>
            </a:pPr>
            <a:r>
              <a:t>공공 / 지방자치: 지방자치인재개발원 | 서울특별시청 | 경기도청 | 강원도특별자치도교육청</a:t>
            </a:r>
          </a:p>
          <a:p>
            <a:pPr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defRPr sz="1800">
                <a:solidFill>
                  <a:srgbClr val="FFFFFF"/>
                </a:solidFill>
                <a:latin typeface="Calibri"/>
              </a:defRPr>
            </a:pPr>
            <a:r>
              <a:t>기업 / 브랜드: SAMSUNG | LG전자 | 현대백화점 | 교보생명 | 애터미 | Market Kurly | Coway</a:t>
            </a:r>
          </a:p>
          <a:p>
            <a:pPr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defRPr sz="1800">
                <a:solidFill>
                  <a:srgbClr val="FFFFFF"/>
                </a:solidFill>
                <a:latin typeface="Calibri"/>
              </a:defRPr>
            </a:pPr>
            <a:r>
              <a:t>글로벌 / IT: Microsoft Research Asia | HP | Symantec | FireEye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hsh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2743200" cy="4114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0" y="9144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C9A962"/>
                </a:solidFill>
                <a:latin typeface="Calibri"/>
              </a:defRPr>
            </a:pPr>
            <a:r>
              <a:t>오수화 대표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82880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Calibri"/>
              </a:defRPr>
            </a:pPr>
            <a:r>
              <a:t>"언어의 품격으로 브랜드의 가치를 완성하는 스피커"</a:t>
            </a:r>
          </a:p>
          <a:p>
            <a:pPr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defRPr sz="1800">
                <a:solidFill>
                  <a:srgbClr val="FFFFFF"/>
                </a:solidFill>
                <a:latin typeface="Calibri"/>
              </a:defRPr>
            </a:pPr>
            <a:r>
              <a:t>아나운서의 날카로운 분석력, 쇼호스트의 생생한 소통 능력,</a:t>
            </a:r>
          </a:p>
          <a:p>
            <a:pPr>
              <a:defRPr sz="1800">
                <a:solidFill>
                  <a:srgbClr val="FFFFFF"/>
                </a:solidFill>
                <a:latin typeface="Calibri"/>
              </a:defRPr>
            </a:pPr>
            <a:r>
              <a:t>그리고 특임교수의 전문성을 바탕으로 각 분야의 정점에서</a:t>
            </a:r>
          </a:p>
          <a:p>
            <a:pPr>
              <a:defRPr sz="1800">
                <a:solidFill>
                  <a:srgbClr val="FFFFFF"/>
                </a:solidFill>
                <a:latin typeface="Calibri"/>
              </a:defRPr>
            </a:pPr>
            <a:r>
              <a:t>최상의 솔루션을 제안합니다.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C9A962"/>
                </a:solidFill>
                <a:latin typeface="Times New Roman"/>
              </a:defRPr>
            </a:pPr>
            <a:r>
              <a:t>CEO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Calibri"/>
              </a:defRPr>
            </a:pPr>
            <a:r>
              <a:t>• 와이 커뮤니케이션 대표</a:t>
            </a:r>
          </a:p>
          <a:p>
            <a:pPr>
              <a:defRPr sz="1800">
                <a:solidFill>
                  <a:srgbClr val="FFFFFF"/>
                </a:solidFill>
                <a:latin typeface="Calibri"/>
              </a:defRPr>
            </a:pPr>
            <a:r>
              <a:t>• 한국산업기술원 지방자치연구소 특임교수</a:t>
            </a:r>
          </a:p>
          <a:p>
            <a:pPr>
              <a:defRPr sz="1800">
                <a:solidFill>
                  <a:srgbClr val="FFFFFF"/>
                </a:solidFill>
                <a:latin typeface="Calibri"/>
              </a:defRPr>
            </a:pPr>
            <a:r>
              <a:t>• 한국경제TV 아나운서 전(前)</a:t>
            </a:r>
          </a:p>
          <a:p>
            <a:pPr>
              <a:defRPr sz="1800">
                <a:solidFill>
                  <a:srgbClr val="FFFFFF"/>
                </a:solidFill>
                <a:latin typeface="Calibri"/>
              </a:defRPr>
            </a:pPr>
            <a:r>
              <a:t>• 쇼호스트 1,000회 이상 진행 (W쇼핑, 홈앤쇼핑, CJ온스타일)</a:t>
            </a:r>
          </a:p>
          <a:p>
            <a:pPr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defRPr sz="1800">
                <a:solidFill>
                  <a:srgbClr val="FFFFFF"/>
                </a:solidFill>
                <a:latin typeface="Calibri"/>
              </a:defRPr>
            </a:pPr>
            <a:r>
              <a:t>수상:</a:t>
            </a:r>
          </a:p>
          <a:p>
            <a:pPr>
              <a:defRPr sz="1800">
                <a:solidFill>
                  <a:srgbClr val="FFFFFF"/>
                </a:solidFill>
                <a:latin typeface="Calibri"/>
              </a:defRPr>
            </a:pPr>
            <a:r>
              <a:t>• 2022년 한국방송진행자협회 쇼호스트상</a:t>
            </a:r>
          </a:p>
          <a:p>
            <a:pPr>
              <a:defRPr sz="1800">
                <a:solidFill>
                  <a:srgbClr val="FFFFFF"/>
                </a:solidFill>
                <a:latin typeface="Calibri"/>
              </a:defRPr>
            </a:pPr>
            <a:r>
              <a:t>• 2022년 미스 인터네셔널 '진(眞)' 수상</a:t>
            </a:r>
          </a:p>
          <a:p>
            <a:pPr>
              <a:defRPr sz="1800">
                <a:solidFill>
                  <a:srgbClr val="FFFFFF"/>
                </a:solidFill>
                <a:latin typeface="Calibri"/>
              </a:defRPr>
            </a:pPr>
            <a:r>
              <a:t>• 2022년 국방부 봉사대상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C9A962"/>
                </a:solidFill>
                <a:latin typeface="Times New Roman"/>
              </a:defRPr>
            </a:pPr>
            <a:r>
              <a:t>KEY PERSONNEL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Calibri"/>
              </a:defRPr>
            </a:pPr>
            <a:r>
              <a:t>• 이서진 (TBC 대구방송): 라이브커머스 7년차, 콜로소 교수</a:t>
            </a:r>
          </a:p>
          <a:p>
            <a:pPr>
              <a:defRPr sz="1800">
                <a:solidFill>
                  <a:srgbClr val="FFFFFF"/>
                </a:solidFill>
                <a:latin typeface="Calibri"/>
              </a:defRPr>
            </a:pPr>
            <a:r>
              <a:t>• 박새하 (MBC): 생방송 오늘아침, 정부기관 프로그램 다수</a:t>
            </a:r>
          </a:p>
          <a:p>
            <a:pPr>
              <a:defRPr sz="1800">
                <a:solidFill>
                  <a:srgbClr val="FFFFFF"/>
                </a:solidFill>
                <a:latin typeface="Calibri"/>
              </a:defRPr>
            </a:pPr>
            <a:r>
              <a:t>• 송혜지 (MBC경남): 기상캐스터, 삼성전자 SEDEX 진행</a:t>
            </a:r>
          </a:p>
          <a:p>
            <a:pPr>
              <a:defRPr sz="1800">
                <a:solidFill>
                  <a:srgbClr val="FFFFFF"/>
                </a:solidFill>
                <a:latin typeface="Calibri"/>
              </a:defRPr>
            </a:pPr>
            <a:r>
              <a:t>• 권소아 (아리랑국제방송): 한영독불 4개국어, 유퀴즈 출연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C9A962"/>
                </a:solidFill>
                <a:latin typeface="Times New Roman"/>
              </a:defRPr>
            </a:pPr>
            <a:r>
              <a:t>WHY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Calibri"/>
              </a:defRPr>
            </a:pPr>
            <a:r>
              <a:t>대한민국 최고의 스피치·미디어 컨설팅 파트너</a:t>
            </a:r>
          </a:p>
          <a:p>
            <a:pPr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defRPr sz="1800">
                <a:solidFill>
                  <a:srgbClr val="FFFFFF"/>
                </a:solidFill>
                <a:latin typeface="Calibri"/>
              </a:defRPr>
            </a:pPr>
            <a:r>
              <a:t>와이 커뮤니케이션은 고객사의 브랜드 가치와 대중의 니즈를 정교하게 분석한 맞춤형 큐레이션으로 품격 있는 아나운서·MC 섭외 및 전략적 교육 컨설팅 서비스를 제공합니다.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C9A962"/>
                </a:solidFill>
                <a:latin typeface="Times New Roman"/>
              </a:defRPr>
            </a:pPr>
            <a:r>
              <a:t>CORE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Calibri"/>
              </a:defRPr>
            </a:pPr>
            <a:r>
              <a:t>1. 진단 기반 교육: 조직 문제 분석을 통한 맞춤형 커리큘럼 설계</a:t>
            </a:r>
          </a:p>
          <a:p>
            <a:pPr>
              <a:defRPr sz="1800">
                <a:solidFill>
                  <a:srgbClr val="FFFFFF"/>
                </a:solidFill>
                <a:latin typeface="Calibri"/>
              </a:defRPr>
            </a:pPr>
            <a:r>
              <a:t>2. 검증된 전문가: 아나운서·쇼호스트 실무 경력 최정상급 인력</a:t>
            </a:r>
          </a:p>
          <a:p>
            <a:pPr>
              <a:defRPr sz="1800">
                <a:solidFill>
                  <a:srgbClr val="FFFFFF"/>
                </a:solidFill>
                <a:latin typeface="Calibri"/>
              </a:defRPr>
            </a:pPr>
            <a:r>
              <a:t>3. 원스톱 매니지먼트: 기획 → 연사 섭외 → 현장 컨트롤 밀착 관리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ortfolio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Times New Roman"/>
              </a:defRPr>
            </a:pPr>
            <a:r>
              <a:t>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Calibri"/>
              </a:defRPr>
            </a:pPr>
            <a:r>
              <a:t>공식행사 MC | 쇼호스트 | 입찰 PT | 기업교육 | 국제회의 | 런칭쇼 | 시상식</a:t>
            </a:r>
          </a:p>
          <a:p>
            <a:pPr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defRPr sz="1800">
                <a:solidFill>
                  <a:srgbClr val="FFFFFF"/>
                </a:solidFill>
                <a:latin typeface="Calibri"/>
              </a:defRPr>
            </a:pPr>
            <a:r>
              <a:t>📍 국방부, 서울시, 대기업 다수 진행 레퍼런스 보유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C9A962"/>
                </a:solidFill>
                <a:latin typeface="Times New Roman"/>
              </a:defRPr>
            </a:pPr>
            <a:r>
              <a:t>PROFESSIONAL MANPOWER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Calibri"/>
              </a:defRPr>
            </a:pPr>
            <a:r>
              <a:t>• 아나운서: 16명 (오수화, 이서진, 박새하, 송혜지, 권소아 등)</a:t>
            </a:r>
          </a:p>
          <a:p>
            <a:pPr>
              <a:defRPr sz="1800">
                <a:solidFill>
                  <a:srgbClr val="FFFFFF"/>
                </a:solidFill>
                <a:latin typeface="Calibri"/>
              </a:defRPr>
            </a:pPr>
            <a:r>
              <a:t>• MC: 13명 (권소아, 손세종, 이용석, 윤채령, 사은혜 등)</a:t>
            </a:r>
          </a:p>
          <a:p>
            <a:pPr>
              <a:defRPr sz="1800">
                <a:solidFill>
                  <a:srgbClr val="FFFFFF"/>
                </a:solidFill>
                <a:latin typeface="Calibri"/>
              </a:defRPr>
            </a:pPr>
            <a:r>
              <a:t>• 강사: 7명 (최인경, 사은혜, 황민지, 이세경 등)</a:t>
            </a:r>
          </a:p>
          <a:p>
            <a:pPr>
              <a:defRPr sz="1800">
                <a:solidFill>
                  <a:srgbClr val="FFFFFF"/>
                </a:solidFill>
                <a:latin typeface="Calibri"/>
              </a:defRPr>
            </a:pPr>
            <a:r>
              <a:t>• 쇼호스트: 5명 (오수화, 이서진, 최인경, 황민지, 윤채령)</a:t>
            </a:r>
          </a:p>
          <a:p>
            <a:pPr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defRPr sz="1800">
                <a:solidFill>
                  <a:srgbClr val="FFFFFF"/>
                </a:solidFill>
                <a:latin typeface="Calibri"/>
              </a:defRPr>
            </a:pPr>
            <a:r>
              <a:t>✓ 생방송 1,500회 이상 경력 보유 인력 다수</a:t>
            </a:r>
          </a:p>
          <a:p>
            <a:pPr>
              <a:defRPr sz="1800">
                <a:solidFill>
                  <a:srgbClr val="FFFFFF"/>
                </a:solidFill>
                <a:latin typeface="Calibri"/>
              </a:defRPr>
            </a:pPr>
            <a:r>
              <a:t>✓ 주요 방송사(MBC, KBS, 아리랑TV 등) 출신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C9A962"/>
                </a:solidFill>
                <a:latin typeface="Times New Roman"/>
              </a:defRPr>
            </a:pPr>
            <a:r>
              <a:t>EDUCATION CURRICULUM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Calibri"/>
              </a:defRPr>
            </a:pPr>
            <a:r>
              <a:t>① 세일즈 강사 양성과정</a:t>
            </a:r>
          </a:p>
          <a:p>
            <a:pPr>
              <a:defRPr sz="3200">
                <a:solidFill>
                  <a:srgbClr val="FFFFFF"/>
                </a:solidFill>
                <a:latin typeface="Calibri"/>
              </a:defRPr>
            </a:pPr>
            <a:r>
              <a:t>② 의원 및 공직자 스피치 특강</a:t>
            </a:r>
          </a:p>
          <a:p>
            <a:pPr>
              <a:defRPr sz="3200">
                <a:solidFill>
                  <a:srgbClr val="FFFFFF"/>
                </a:solidFill>
                <a:latin typeface="Calibri"/>
              </a:defRPr>
            </a:pPr>
            <a:r>
              <a:t>③ SNS 활용 및 디지털 브랜딩</a:t>
            </a:r>
          </a:p>
          <a:p>
            <a:pPr>
              <a:defRPr sz="3200">
                <a:solidFill>
                  <a:srgbClr val="FFFFFF"/>
                </a:solidFill>
                <a:latin typeface="Calibri"/>
              </a:defRPr>
            </a:pPr>
            <a:r>
              <a:t>④ 전문 연사 매칭 및 행사 진행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C9A962"/>
                </a:solidFill>
                <a:latin typeface="Times New Roman"/>
              </a:defRPr>
            </a:pPr>
            <a:r>
              <a:t>① 세일즈 강사 양성과정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Calibri"/>
              </a:defRPr>
            </a:pPr>
            <a:r>
              <a:t>쇼호스트의 실전 화법을 이식하여 현장을 장악하는 전문가 양성</a:t>
            </a:r>
          </a:p>
          <a:p>
            <a:pPr>
              <a:defRPr sz="1800">
                <a:solidFill>
                  <a:srgbClr val="FFFFFF"/>
                </a:solidFill>
                <a:latin typeface="Calibri"/>
              </a:defRPr>
            </a:pPr>
            <a:r>
              <a:t>- 1,000회 이상 생방송 실무 데이터 기반</a:t>
            </a:r>
          </a:p>
          <a:p>
            <a:pPr>
              <a:defRPr sz="1800">
                <a:solidFill>
                  <a:srgbClr val="FFFFFF"/>
                </a:solidFill>
                <a:latin typeface="Calibri"/>
              </a:defRPr>
            </a:pPr>
            <a:r>
              <a:t>- 제품 USP 분석 및 소구점 도출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C9A962"/>
                </a:solidFill>
                <a:latin typeface="Times New Roman"/>
              </a:defRPr>
            </a:pPr>
            <a:r>
              <a:t>② 의원 및 공직자 스피치 특강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Calibri"/>
              </a:defRPr>
            </a:pPr>
            <a:r>
              <a:t>신뢰감을 주는 목소리와 정교한 논리로 의정 활동의 격 상승</a:t>
            </a:r>
          </a:p>
          <a:p>
            <a:pPr>
              <a:defRPr sz="1800">
                <a:solidFill>
                  <a:srgbClr val="FFFFFF"/>
                </a:solidFill>
                <a:latin typeface="Calibri"/>
              </a:defRPr>
            </a:pPr>
            <a:r>
              <a:t>- 정책 전달력 및 이미지 컨설팅</a:t>
            </a:r>
          </a:p>
          <a:p>
            <a:pPr>
              <a:defRPr sz="1800">
                <a:solidFill>
                  <a:srgbClr val="FFFFFF"/>
                </a:solidFill>
                <a:latin typeface="Calibri"/>
              </a:defRPr>
            </a:pPr>
            <a:r>
              <a:t>- 인공지능(AI) 비디오 퍼포먼스 가이드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C9A962"/>
                </a:solidFill>
                <a:latin typeface="Times New Roman"/>
              </a:defRPr>
            </a:pPr>
            <a:r>
              <a:t>③ SNS 활용 및 디지털 브랜딩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Calibri"/>
              </a:defRPr>
            </a:pPr>
            <a:r>
              <a:t>인플루언서·아나운서 노하우 기반 퍼스널 브랜딩 전략</a:t>
            </a:r>
          </a:p>
          <a:p>
            <a:pPr>
              <a:defRPr sz="1800">
                <a:solidFill>
                  <a:srgbClr val="FFFFFF"/>
                </a:solidFill>
                <a:latin typeface="Calibri"/>
              </a:defRPr>
            </a:pPr>
            <a:r>
              <a:t>- 팔로워 데이터 기반 소통법</a:t>
            </a:r>
          </a:p>
          <a:p>
            <a:pPr>
              <a:defRPr sz="1800">
                <a:solidFill>
                  <a:srgbClr val="FFFFFF"/>
                </a:solidFill>
                <a:latin typeface="Calibri"/>
              </a:defRPr>
            </a:pPr>
            <a:r>
              <a:t>- 디지털 시대의 영향력 구축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C9A962"/>
                </a:solidFill>
                <a:latin typeface="Times New Roman"/>
              </a:defRPr>
            </a:pPr>
            <a:r>
              <a:t>④ 전문 연사 매칭 및 행사 진행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Calibri"/>
              </a:defRPr>
            </a:pPr>
            <a:r>
              <a:t>국제회의, 런칭쇼, 시상식 등 품격을 높이는 아나운서·MC 섭외</a:t>
            </a:r>
          </a:p>
          <a:p>
            <a:pPr>
              <a:defRPr sz="1800">
                <a:solidFill>
                  <a:srgbClr val="FFFFFF"/>
                </a:solidFill>
                <a:latin typeface="Calibri"/>
              </a:defRPr>
            </a:pPr>
            <a:r>
              <a:t>- 기획부터 현장 컨트롤까지 완벽한 매니지먼트</a:t>
            </a:r>
          </a:p>
          <a:p>
            <a:pPr>
              <a:defRPr sz="1800">
                <a:solidFill>
                  <a:srgbClr val="FFFFFF"/>
                </a:solidFill>
                <a:latin typeface="Calibri"/>
              </a:defRPr>
            </a:pPr>
            <a:r>
              <a:t>- 정부·대기업 레퍼런스 보유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400" b="1">
                <a:solidFill>
                  <a:srgbClr val="C9A962"/>
                </a:solidFill>
                <a:latin typeface="Times New Roman"/>
              </a:defRPr>
            </a:pPr>
            <a:r>
              <a:t>CONTACT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Calibri"/>
              </a:defRPr>
            </a:pPr>
            <a:r>
              <a:t>Phone: 010-7652-6842</a:t>
            </a:r>
          </a:p>
          <a:p>
            <a:pPr>
              <a:defRPr sz="3200">
                <a:solidFill>
                  <a:srgbClr val="FFFFFF"/>
                </a:solidFill>
                <a:latin typeface="Calibri"/>
              </a:defRPr>
            </a:pPr>
            <a:r>
              <a:t>Email: info@ycom.live</a:t>
            </a:r>
          </a:p>
          <a:p>
            <a:pPr>
              <a:defRPr sz="3200">
                <a:solidFill>
                  <a:srgbClr val="FFFFFF"/>
                </a:solidFill>
                <a:latin typeface="Calibri"/>
              </a:defRPr>
            </a:pPr>
            <a:r>
              <a:t>Website: ycom.live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274320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>
                <a:solidFill>
                  <a:srgbClr val="C9A962"/>
                </a:solidFill>
                <a:latin typeface="Calibri"/>
              </a:defRPr>
            </a:pPr>
            <a:r>
              <a:t>와이 커뮤니케이션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4114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FFFFF"/>
                </a:solidFill>
                <a:latin typeface="Calibri"/>
              </a:defRPr>
            </a:pPr>
            <a:r>
              <a:t>조직의 DNA를 분석하고, 비즈니스의 격을 설계합니다.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